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9" d="100"/>
          <a:sy n="139" d="100"/>
        </p:scale>
        <p:origin x="-372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496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4572000"/>
            <a:ext cx="8732520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11480"/>
            <a:ext cx="1920240" cy="1234440"/>
          </a:xfrm>
          <a:prstGeom prst="rect">
            <a:avLst/>
          </a:prstGeom>
          <a:solidFill>
            <a:srgbClr val="1B8B96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475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27,312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0E8"/>
                </a:solidFill>
              </a:rPr>
              <a:t>Total Incidents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6E0E8"/>
                </a:solidFill>
              </a:rPr>
              <a:t>2006–2022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54864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Shooting Incident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B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NYPD Historical Shooting Incident Data — Machine Learning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487168"/>
            <a:ext cx="5029200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Insights 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Fatality Classification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8932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STATISTICAL_MURDER_FLAG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520440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Python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520440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9456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3520440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03320" y="35204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XGBoost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SMOTE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3959352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9456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SHAP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3959352"/>
            <a:ext cx="1325880" cy="292608"/>
          </a:xfrm>
          <a:prstGeom prst="rect">
            <a:avLst/>
          </a:prstGeom>
          <a:solidFill>
            <a:srgbClr val="2E3D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03320" y="3959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B5C3"/>
                </a:solidFill>
              </a:rPr>
              <a:t>pandas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Urban Insights Analytics  |  Confidential</a:t>
            </a:r>
            <a:endParaRPr lang="en-US" sz="8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0BABAE1A-AD23-4804-95B3-7B68CCD9A7C5}"/>
              </a:ext>
            </a:extLst>
          </p:cNvPr>
          <p:cNvSpPr/>
          <p:nvPr/>
        </p:nvSpPr>
        <p:spPr>
          <a:xfrm>
            <a:off x="6858000" y="3767658"/>
            <a:ext cx="1920240" cy="594140"/>
          </a:xfrm>
          <a:prstGeom prst="rect">
            <a:avLst/>
          </a:prstGeom>
          <a:solidFill>
            <a:srgbClr val="1B8B96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10DBC5D-84E7-4794-93C2-71107A17D1ED}"/>
              </a:ext>
            </a:extLst>
          </p:cNvPr>
          <p:cNvSpPr/>
          <p:nvPr/>
        </p:nvSpPr>
        <p:spPr>
          <a:xfrm>
            <a:off x="7114746" y="3882768"/>
            <a:ext cx="1427892" cy="342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 EVA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1B8B96">
              <a:alpha val="12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Objective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D4F"/>
                </a:solidFill>
              </a:rPr>
              <a:t>Build a binary classification model to predict whether a shooting incident results in a fatality (STATISTICAL_MURDER_FLAG = TRUE), enabling data-driven resource allocation for NYPD and emergency services.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Loading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27,312 records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2006–2022 NYPD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81912" y="2587752"/>
            <a:ext cx="155448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3736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Distribution, temporal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&amp; demographic analysis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99232" y="2587752"/>
            <a:ext cx="155448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0" name="Shape 18"/>
          <p:cNvSpPr/>
          <p:nvPr/>
        </p:nvSpPr>
        <p:spPr>
          <a:xfrm>
            <a:off x="315468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Feature engineering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Label encoding, SMOTE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16552" y="2587752"/>
            <a:ext cx="155448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Modeling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6 classifiers compared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5-fold cross-validation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33872" y="2587752"/>
            <a:ext cx="155448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2" name="Shape 30"/>
          <p:cNvSpPr/>
          <p:nvPr/>
        </p:nvSpPr>
        <p:spPr>
          <a:xfrm>
            <a:off x="598932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932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Tuning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GridSearchCV 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best model (XGBoost)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51192" y="2587752"/>
            <a:ext cx="155448" cy="36576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6640" y="1938528"/>
            <a:ext cx="1261872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06640" y="1938528"/>
            <a:ext cx="1261872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1938528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8B96"/>
                </a:solidFill>
              </a:rPr>
              <a:t>06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0" y="230428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26334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SHAP analysis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AD"/>
                </a:solidFill>
              </a:rPr>
              <a:t>Feature importance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3611880"/>
            <a:ext cx="192024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004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8B96"/>
                </a:solidFill>
              </a:rPr>
              <a:t>27,312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32004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0E8"/>
                </a:solidFill>
              </a:rPr>
              <a:t>Total Records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23160" y="3611880"/>
            <a:ext cx="192024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42316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8B96"/>
                </a:solidFill>
              </a:rPr>
              <a:t>16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242316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0E8"/>
                </a:solidFill>
              </a:rPr>
              <a:t>Features Used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26280" y="3611880"/>
            <a:ext cx="192024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2628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8B96"/>
                </a:solidFill>
              </a:rPr>
              <a:t>19.3%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452628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0E8"/>
                </a:solidFill>
              </a:rPr>
              <a:t>Target: Fatal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629400" y="3611880"/>
            <a:ext cx="192024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62940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8B96"/>
                </a:solidFill>
              </a:rPr>
              <a:t>16 Years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62940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0E8"/>
                </a:solidFill>
              </a:rPr>
              <a:t>Date Span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Exploratory Data Analysis — Class Distribution &amp; Geography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CLASS IMBALANCE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61872"/>
            <a:ext cx="3474720" cy="475488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61872"/>
            <a:ext cx="670621" cy="4754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61872"/>
            <a:ext cx="67062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19.3%  Fatal (5,266)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73541" y="1261872"/>
            <a:ext cx="280409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80.7%  Non-Fatal (22,046)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Class Ratio — Non-Fatal : Fatal = 4.2 :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</a:rPr>
              <a:t>⚠ Significant class imbalance detected. SMOTE oversampling applied to training set to mitigate bias toward majority class.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1645920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07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D"/>
                </a:solidFill>
              </a:rPr>
              <a:t>Before SMOTE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8B96"/>
                </a:solidFill>
              </a:rPr>
              <a:t>Fatal: 19.3%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2788920"/>
            <a:ext cx="1645920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807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AD"/>
                </a:solidFill>
              </a:rPr>
              <a:t>After SMOTE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A56"/>
                </a:solidFill>
              </a:rPr>
              <a:t>Fatal: 50.0%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7772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BOROUGH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1605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207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Brooklyn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45476" y="1234440"/>
            <a:ext cx="2103120" cy="23774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3" name="Text 21"/>
          <p:cNvSpPr/>
          <p:nvPr/>
        </p:nvSpPr>
        <p:spPr>
          <a:xfrm>
            <a:off x="7806389" y="1207008"/>
            <a:ext cx="6400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10,933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315763" y="1252728"/>
            <a:ext cx="182880" cy="182880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25" name="Text 23"/>
          <p:cNvSpPr/>
          <p:nvPr/>
        </p:nvSpPr>
        <p:spPr>
          <a:xfrm>
            <a:off x="8480355" y="12070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B96"/>
                </a:solidFill>
              </a:rPr>
              <a:t>19.1%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Bronx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45476" y="1691640"/>
            <a:ext cx="1526796" cy="23774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8" name="Text 26"/>
          <p:cNvSpPr/>
          <p:nvPr/>
        </p:nvSpPr>
        <p:spPr>
          <a:xfrm>
            <a:off x="7241790" y="1664208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7,937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315763" y="1709928"/>
            <a:ext cx="182880" cy="182880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30" name="Text 28"/>
          <p:cNvSpPr/>
          <p:nvPr/>
        </p:nvSpPr>
        <p:spPr>
          <a:xfrm>
            <a:off x="8480355" y="16642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B96"/>
                </a:solidFill>
              </a:rPr>
              <a:t>19.2%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1214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Queens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45476" y="2148840"/>
            <a:ext cx="787540" cy="23774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3" name="Text 31"/>
          <p:cNvSpPr/>
          <p:nvPr/>
        </p:nvSpPr>
        <p:spPr>
          <a:xfrm>
            <a:off x="6578736" y="21214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4,094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15763" y="2167128"/>
            <a:ext cx="182880" cy="182880"/>
          </a:xfrm>
          <a:prstGeom prst="ellipse">
            <a:avLst/>
          </a:prstGeom>
          <a:solidFill>
            <a:srgbClr val="E6A817"/>
          </a:solidFill>
          <a:ln/>
        </p:spPr>
      </p:sp>
      <p:sp>
        <p:nvSpPr>
          <p:cNvPr id="35" name="Text 33"/>
          <p:cNvSpPr/>
          <p:nvPr/>
        </p:nvSpPr>
        <p:spPr>
          <a:xfrm>
            <a:off x="8480355" y="21214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A817"/>
                </a:solidFill>
              </a:rPr>
              <a:t>20.1%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00600" y="2578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Manhattan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45476" y="2606040"/>
            <a:ext cx="687126" cy="23774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8" name="Text 36"/>
          <p:cNvSpPr/>
          <p:nvPr/>
        </p:nvSpPr>
        <p:spPr>
          <a:xfrm>
            <a:off x="6478322" y="2578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3,572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315763" y="2624328"/>
            <a:ext cx="182880" cy="182880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40" name="Text 38"/>
          <p:cNvSpPr/>
          <p:nvPr/>
        </p:nvSpPr>
        <p:spPr>
          <a:xfrm>
            <a:off x="8480355" y="2578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8B96"/>
                </a:solidFill>
              </a:rPr>
              <a:t>19.6%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3035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Staten Is.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45476" y="3063240"/>
            <a:ext cx="149275" cy="23774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43" name="Text 41"/>
          <p:cNvSpPr/>
          <p:nvPr/>
        </p:nvSpPr>
        <p:spPr>
          <a:xfrm>
            <a:off x="5940471" y="30358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776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315763" y="3081528"/>
            <a:ext cx="182880" cy="1828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45" name="Text 43"/>
          <p:cNvSpPr/>
          <p:nvPr/>
        </p:nvSpPr>
        <p:spPr>
          <a:xfrm>
            <a:off x="8480355" y="30358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935"/>
                </a:solidFill>
              </a:rPr>
              <a:t>21.5%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45476" y="10789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Incidents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315763" y="10789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Fatal%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00600" y="3291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6A817"/>
                </a:solidFill>
              </a:rPr>
              <a:t>★ Staten Island has highest fatality rate (21.5%) despite lowest incident count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3721608"/>
            <a:ext cx="8485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MISSING DATA CHALLENGE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977640"/>
            <a:ext cx="8485632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" y="4133088"/>
            <a:ext cx="1508760" cy="502920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160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BAD"/>
                </a:solidFill>
              </a:rPr>
              <a:t>PERP_AGE_GROUP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2920" y="43708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~37%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67128" y="4133088"/>
            <a:ext cx="1508760" cy="502920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5" name="Text 53"/>
          <p:cNvSpPr/>
          <p:nvPr/>
        </p:nvSpPr>
        <p:spPr>
          <a:xfrm>
            <a:off x="2167128" y="4160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BAD"/>
                </a:solidFill>
              </a:rPr>
              <a:t>PERP_SEX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67128" y="43708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~35%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831336" y="4133088"/>
            <a:ext cx="1508760" cy="502920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8" name="Text 56"/>
          <p:cNvSpPr/>
          <p:nvPr/>
        </p:nvSpPr>
        <p:spPr>
          <a:xfrm>
            <a:off x="3831336" y="4160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BAD"/>
                </a:solidFill>
              </a:rPr>
              <a:t>PERP_RACE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831336" y="43708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~35%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95544" y="4133088"/>
            <a:ext cx="1508760" cy="502920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61" name="Text 59"/>
          <p:cNvSpPr/>
          <p:nvPr/>
        </p:nvSpPr>
        <p:spPr>
          <a:xfrm>
            <a:off x="5495544" y="4160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BAD"/>
                </a:solidFill>
              </a:rPr>
              <a:t>LOC_OF_OCCUR_DESC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95544" y="43708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~27%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59752" y="4133088"/>
            <a:ext cx="1508760" cy="502920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64" name="Text 62"/>
          <p:cNvSpPr/>
          <p:nvPr/>
        </p:nvSpPr>
        <p:spPr>
          <a:xfrm>
            <a:off x="7159752" y="4160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A9BAD"/>
                </a:solidFill>
              </a:rPr>
              <a:t>LOCATION_DESC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159752" y="43708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~52%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EDA — Temporal &amp; Demographic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TEMPORAL PATTERNS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169164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Annual Trend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6FA8"/>
                </a:solidFill>
              </a:rPr>
              <a:t>COVID-19 surge in 2020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</a:rPr>
              <a:t>Incidents spiked significantly in 2020–2021 after years of decline, then moderated. Peak: ~2,000+ incidents in 2020.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51560"/>
            <a:ext cx="64008" cy="169164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115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Seasonal Peak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389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A817"/>
                </a:solidFill>
              </a:rPr>
              <a:t>Summer = Higher Lethality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</a:rPr>
              <a:t>July &amp; August show elevated fatality rates. Warmer months correlate with more outdoor confrontations and higher lethality.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25896" y="10515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051560"/>
            <a:ext cx="64008" cy="16916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1115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 of 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08776" y="1389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10 PM – 5 AM Critical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08776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D"/>
                </a:solidFill>
              </a:rPr>
              <a:t>Late-night hours show 22–25% fatality rates vs ~17% daytime average. Night incidents are 30–40% more likely fatal.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28529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DEMOGRAPHIC PATTERNS (FATALITY RATE BY GROUP)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Fatality Rate by Victim Age Group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65+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43000" y="3520440"/>
            <a:ext cx="2317090" cy="1828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Text 24"/>
          <p:cNvSpPr/>
          <p:nvPr/>
        </p:nvSpPr>
        <p:spPr>
          <a:xfrm>
            <a:off x="3505810" y="34930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3935"/>
                </a:solidFill>
              </a:rPr>
              <a:t>36.2%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73989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45–64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143000" y="3767328"/>
            <a:ext cx="1824228" cy="1828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9" name="Text 27"/>
          <p:cNvSpPr/>
          <p:nvPr/>
        </p:nvSpPr>
        <p:spPr>
          <a:xfrm>
            <a:off x="3012948" y="373989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3935"/>
                </a:solidFill>
              </a:rPr>
              <a:t>28.5%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3986784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25–44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143000" y="4014216"/>
            <a:ext cx="1267358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456078" y="39867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A8"/>
                </a:solidFill>
              </a:rPr>
              <a:t>19.8%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423367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18–24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43000" y="4261104"/>
            <a:ext cx="1036930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5" name="Text 33"/>
          <p:cNvSpPr/>
          <p:nvPr/>
        </p:nvSpPr>
        <p:spPr>
          <a:xfrm>
            <a:off x="2225650" y="423367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A8"/>
                </a:solidFill>
              </a:rPr>
              <a:t>16.2%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480560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&lt;18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143000" y="4507992"/>
            <a:ext cx="883310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8" name="Text 36"/>
          <p:cNvSpPr/>
          <p:nvPr/>
        </p:nvSpPr>
        <p:spPr>
          <a:xfrm>
            <a:off x="2072030" y="448056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FA8"/>
                </a:solidFill>
              </a:rPr>
              <a:t>13.8%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3127248"/>
            <a:ext cx="42519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Key Demographic Findings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520440"/>
            <a:ext cx="128016" cy="128016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Victims 65+ are 2.6× more likely to die from a shooting than victims under 18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813048"/>
            <a:ext cx="128016" cy="128016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44" name="Text 42"/>
          <p:cNvSpPr/>
          <p:nvPr/>
        </p:nvSpPr>
        <p:spPr>
          <a:xfrm>
            <a:off x="4956048" y="3785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Male victims account for 90%+ of all incidents; fatality rate slightly higher for male perps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4105656"/>
            <a:ext cx="128016" cy="128016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46" name="Text 44"/>
          <p:cNvSpPr/>
          <p:nvPr/>
        </p:nvSpPr>
        <p:spPr>
          <a:xfrm>
            <a:off x="4956048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Race groups show differential fatality rates — likely confounded by neighborhood/location factors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4398264"/>
            <a:ext cx="128016" cy="128016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48" name="Text 46"/>
          <p:cNvSpPr/>
          <p:nvPr/>
        </p:nvSpPr>
        <p:spPr>
          <a:xfrm>
            <a:off x="4956048" y="4370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3D4F"/>
                </a:solidFill>
              </a:rPr>
              <a:t>~37% missing perpetrator data limits demographic analysis of offenders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Preprocessing &amp; 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ENGINEERED FEATURES (16 TOTAL)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1847088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1556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B96"/>
                </a:solidFill>
              </a:rPr>
              <a:t>Categorical (8)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417320"/>
            <a:ext cx="1847088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4173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BORO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1709928"/>
            <a:ext cx="184708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7099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PERP_AGE_GROUP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002536"/>
            <a:ext cx="1847088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0025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PERP_SEX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2295144"/>
            <a:ext cx="184708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2951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PERP_RACE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2587752"/>
            <a:ext cx="1847088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5877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VIC_AGE_GROUP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880360"/>
            <a:ext cx="184708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28803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VIC_SEX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3172968"/>
            <a:ext cx="1847088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172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VIC_RACE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3465576"/>
            <a:ext cx="184708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4655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TIME_PERIOD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93392" y="3502152"/>
            <a:ext cx="201168" cy="164592"/>
          </a:xfrm>
          <a:prstGeom prst="rect">
            <a:avLst/>
          </a:prstGeom>
          <a:solidFill>
            <a:srgbClr val="1B8B9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NEW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359152" y="1115568"/>
            <a:ext cx="192024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359152" y="1115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8B96"/>
                </a:solidFill>
              </a:rPr>
              <a:t>Numerical (8)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59152" y="1417320"/>
            <a:ext cx="192024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2450592" y="14173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PRECINCT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59152" y="1709928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450592" y="170992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JURISDICTION_CODE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359152" y="2002536"/>
            <a:ext cx="192024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2450592" y="20025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YEAR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59152" y="2295144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450592" y="229514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MONTH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59152" y="2587752"/>
            <a:ext cx="192024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2450592" y="25877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DAY_OF_WEEK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41648" y="2624328"/>
            <a:ext cx="201168" cy="164592"/>
          </a:xfrm>
          <a:prstGeom prst="rect">
            <a:avLst/>
          </a:prstGeom>
          <a:solidFill>
            <a:srgbClr val="E6A81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NEW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359152" y="2880360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450592" y="28803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HOUR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59152" y="3172968"/>
            <a:ext cx="192024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2450592" y="31729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IS_WEEKEND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41648" y="3209544"/>
            <a:ext cx="201168" cy="164592"/>
          </a:xfrm>
          <a:prstGeom prst="rect">
            <a:avLst/>
          </a:prstGeom>
          <a:solidFill>
            <a:srgbClr val="E6A81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NEW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359152" y="3465576"/>
            <a:ext cx="19202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450592" y="34655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IS_NIGHT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41648" y="3502152"/>
            <a:ext cx="201168" cy="164592"/>
          </a:xfrm>
          <a:prstGeom prst="rect">
            <a:avLst/>
          </a:prstGeom>
          <a:solidFill>
            <a:srgbClr val="E6A81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NEW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663440" y="777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PREPROCESSING PIPELINE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1051560"/>
            <a:ext cx="4160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36592" y="1216152"/>
            <a:ext cx="347472" cy="3474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50" name="Text 48"/>
          <p:cNvSpPr/>
          <p:nvPr/>
        </p:nvSpPr>
        <p:spPr>
          <a:xfrm>
            <a:off x="4736592" y="1216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93792" y="1106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Missing Value Handling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93792" y="13624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Null/unknown values mapped to 'UNKNOWN' category for categorical features; median imputation for numerical.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1810512"/>
            <a:ext cx="4160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36592" y="1975104"/>
            <a:ext cx="347472" cy="3474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55" name="Text 53"/>
          <p:cNvSpPr/>
          <p:nvPr/>
        </p:nvSpPr>
        <p:spPr>
          <a:xfrm>
            <a:off x="4736592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93792" y="1865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Label Encoding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93792" y="2121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All 8 categorical features encoded using scikit-learn LabelEncoder, preserving ordinal structure where applicable.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2569464"/>
            <a:ext cx="4160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36592" y="2734056"/>
            <a:ext cx="347472" cy="3474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193792" y="2624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Train/Test Split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193792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80/20 stratified split (random_state=42) to preserve class balance across partitions.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63440" y="3328416"/>
            <a:ext cx="4160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36592" y="3493008"/>
            <a:ext cx="347472" cy="3474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65" name="Text 63"/>
          <p:cNvSpPr/>
          <p:nvPr/>
        </p:nvSpPr>
        <p:spPr>
          <a:xfrm>
            <a:off x="4736592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93792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SMOTE Oversampling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93792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Applied exclusively to training data. Synthetic minority samples generated to achieve 50/50 class balance.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63440" y="4087368"/>
            <a:ext cx="41605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36592" y="4251960"/>
            <a:ext cx="347472" cy="3474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70" name="Text 68"/>
          <p:cNvSpPr/>
          <p:nvPr/>
        </p:nvSpPr>
        <p:spPr>
          <a:xfrm>
            <a:off x="4736592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193792" y="4142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Feature Scaling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193792" y="4398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StandardScaler applied within pipeline for distance-based models (KNN, Logistic Regression).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Development &amp; Comparative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6 CLASSIFIERS EVALUATED — 5-FOLD STRATIFIED CROSS-VALIDATION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920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078992"/>
            <a:ext cx="1115568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2267712" y="107899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1568" y="1078992"/>
            <a:ext cx="1115568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07899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Precision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35424" y="1078992"/>
            <a:ext cx="1115568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07899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1078992"/>
            <a:ext cx="1115568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078992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F1-Score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1078992"/>
            <a:ext cx="1143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6803136" y="10789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ROC-AUC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7107" y="1426464"/>
            <a:ext cx="1920240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267712" y="1426464"/>
            <a:ext cx="1115568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01568" y="1426464"/>
            <a:ext cx="1115568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5424" y="1426464"/>
            <a:ext cx="1115568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1426464"/>
            <a:ext cx="1115568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803136" y="1426464"/>
            <a:ext cx="1143000" cy="347472"/>
          </a:xfrm>
          <a:prstGeom prst="rect">
            <a:avLst/>
          </a:prstGeom>
          <a:solidFill>
            <a:srgbClr val="E8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1426464"/>
            <a:ext cx="45720" cy="34747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5" name="Text 23"/>
          <p:cNvSpPr/>
          <p:nvPr/>
        </p:nvSpPr>
        <p:spPr>
          <a:xfrm>
            <a:off x="393310" y="1426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8B96"/>
                </a:solidFill>
              </a:rPr>
              <a:t>XGBoost ★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67712" y="142646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96"/>
                </a:solidFill>
              </a:rPr>
              <a:t>0.7262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142646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96"/>
                </a:solidFill>
              </a:rPr>
              <a:t>0.2962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35424" y="142646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96"/>
                </a:solidFill>
              </a:rPr>
              <a:t>0.3058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42646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96"/>
                </a:solidFill>
              </a:rPr>
              <a:t>0.3009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03136" y="14264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96"/>
                </a:solidFill>
              </a:rPr>
              <a:t>0.6506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1810512"/>
            <a:ext cx="1920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267712" y="1810512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01568" y="1810512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35424" y="1810512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0" y="1810512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803136" y="1810512"/>
            <a:ext cx="1143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3D4F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267712" y="18105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0.7165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01568" y="18105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0.2480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35424" y="18105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0.2317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181051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0.2396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03136" y="18105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0.5851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2194560"/>
            <a:ext cx="192024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2267712" y="2194560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5" name="Shape 43"/>
          <p:cNvSpPr/>
          <p:nvPr/>
        </p:nvSpPr>
        <p:spPr>
          <a:xfrm>
            <a:off x="3401568" y="2194560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4535424" y="2194560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0" y="2194560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Shape 46"/>
          <p:cNvSpPr/>
          <p:nvPr/>
        </p:nvSpPr>
        <p:spPr>
          <a:xfrm>
            <a:off x="6803136" y="2194560"/>
            <a:ext cx="114300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3D4F"/>
                </a:solidFill>
              </a:rPr>
              <a:t>Gradient Boosting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67712" y="21945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0.6868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01568" y="21945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0.2858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35424" y="21945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0.4169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69280" y="21945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0.3391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03136" y="21945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0.6387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2578608"/>
            <a:ext cx="1920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2267712" y="2578608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3401568" y="2578608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4535424" y="2578608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5669280" y="2578608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803136" y="2578608"/>
            <a:ext cx="1143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20040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3D4F"/>
                </a:solidFill>
              </a:rPr>
              <a:t>Decision Tree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267712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0.5797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401568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0.2266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35424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0.4891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669280" y="257860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0.3097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03136" y="25786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0.5612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" y="2962656"/>
            <a:ext cx="192024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8" name="Shape 66"/>
          <p:cNvSpPr/>
          <p:nvPr/>
        </p:nvSpPr>
        <p:spPr>
          <a:xfrm>
            <a:off x="2267712" y="2962656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9" name="Shape 67"/>
          <p:cNvSpPr/>
          <p:nvPr/>
        </p:nvSpPr>
        <p:spPr>
          <a:xfrm>
            <a:off x="3401568" y="2962656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0" name="Shape 68"/>
          <p:cNvSpPr/>
          <p:nvPr/>
        </p:nvSpPr>
        <p:spPr>
          <a:xfrm>
            <a:off x="4535424" y="2962656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1" name="Shape 69"/>
          <p:cNvSpPr/>
          <p:nvPr/>
        </p:nvSpPr>
        <p:spPr>
          <a:xfrm>
            <a:off x="5669280" y="2962656"/>
            <a:ext cx="1115568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2" name="Shape 70"/>
          <p:cNvSpPr/>
          <p:nvPr/>
        </p:nvSpPr>
        <p:spPr>
          <a:xfrm>
            <a:off x="6803136" y="2962656"/>
            <a:ext cx="1143000" cy="34747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320040" y="29626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3D4F"/>
                </a:solidFill>
              </a:rPr>
              <a:t>Logistic Regression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267712" y="2962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0.7622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401568" y="2962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0.5210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35424" y="2962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0.5840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669280" y="2962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0.5508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803136" y="29626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0.7380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0040" y="3346704"/>
            <a:ext cx="1920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2267712" y="3346704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3401568" y="3346704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4535424" y="3346704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5669280" y="3346704"/>
            <a:ext cx="1115568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6803136" y="3346704"/>
            <a:ext cx="1143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320040" y="3346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E3D4F"/>
                </a:solidFill>
              </a:rPr>
              <a:t>K-Nearest Neighbors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267712" y="334670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0.5977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401568" y="334670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0.2571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535424" y="334670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0.5755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669280" y="334670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0.3554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803136" y="33467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3D4F"/>
                </a:solidFill>
              </a:rPr>
              <a:t>0.6163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20040" y="3840480"/>
            <a:ext cx="8503920" cy="9601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320040" y="3840480"/>
            <a:ext cx="64008" cy="96012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93" name="Text 91"/>
          <p:cNvSpPr/>
          <p:nvPr/>
        </p:nvSpPr>
        <p:spPr>
          <a:xfrm>
            <a:off x="502920" y="3913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B96"/>
                </a:solidFill>
              </a:rPr>
              <a:t>★ Best Model: XGBoost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0E8"/>
                </a:solidFill>
              </a:rPr>
              <a:t>Selected based on highest ROC-AUC (0.6506) and best overall F1-Score. Ensemble boosting approach handles feature interactions effectively in this tabular dataset. Submitted to hyperparameter tuning via GridSearchCV.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Hyperparameter Tuning &amp; Final Model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GRIDSEARCHCV — XGBOOST TUNING PARAMETERS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143000"/>
            <a:ext cx="3767328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430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n_estimators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114300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B96"/>
                </a:solidFill>
              </a:rPr>
              <a:t>[200, 300]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527048"/>
            <a:ext cx="3767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527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max_depth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5270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B96"/>
                </a:solidFill>
              </a:rPr>
              <a:t>[4, 6]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1911096"/>
            <a:ext cx="3767328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91109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learning_rate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9110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B96"/>
                </a:solidFill>
              </a:rPr>
              <a:t>[0.05, 0.1]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" y="2295144"/>
            <a:ext cx="3767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29514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subsample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2951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B96"/>
                </a:solidFill>
              </a:rPr>
              <a:t>[0.8, 1.0]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2679192"/>
            <a:ext cx="3767328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6791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3D4F"/>
                </a:solidFill>
              </a:rPr>
              <a:t>colsample_bytree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26791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8B96"/>
                </a:solidFill>
              </a:rPr>
              <a:t>[0.8, 1.0]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0815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9BAD"/>
                </a:solidFill>
              </a:rPr>
              <a:t>CV: 3-fold  |  Scoring: ROC-AUC  |  Total fits: 96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777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TUNED XGBOOST — FINAL TEST SET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124712"/>
            <a:ext cx="4005072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36592" y="1124712"/>
            <a:ext cx="54864" cy="329184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124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Accuracy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2280" y="112471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FA8"/>
                </a:solidFill>
              </a:rPr>
              <a:t>0.8254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112471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A56"/>
                </a:solidFill>
              </a:rPr>
              <a:t>+0.44%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36592" y="1508760"/>
            <a:ext cx="40050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1508760"/>
            <a:ext cx="54864" cy="329184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15087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Precision (Fatal)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15087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B96"/>
                </a:solidFill>
              </a:rPr>
              <a:t>0.6218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150876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A56"/>
                </a:solidFill>
              </a:rPr>
              <a:t>+0.80%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1892808"/>
            <a:ext cx="4005072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736592" y="1892808"/>
            <a:ext cx="54864" cy="329184"/>
          </a:xfrm>
          <a:prstGeom prst="rect">
            <a:avLst/>
          </a:prstGeom>
          <a:solidFill>
            <a:srgbClr val="1E8A56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1892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Recall (Fatal)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189280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A56"/>
                </a:solidFill>
              </a:rPr>
              <a:t>0.6489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18928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A56"/>
                </a:solidFill>
              </a:rPr>
              <a:t>+0.37%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2276856"/>
            <a:ext cx="40050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736592" y="2276856"/>
            <a:ext cx="54864" cy="329184"/>
          </a:xfrm>
          <a:prstGeom prst="rect">
            <a:avLst/>
          </a:prstGeom>
          <a:solidFill>
            <a:srgbClr val="7B51A8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22768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F1-Score (Fatal)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12280" y="2276856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51A8"/>
                </a:solidFill>
              </a:rPr>
              <a:t>0.6350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2276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A56"/>
                </a:solidFill>
              </a:rPr>
              <a:t>+0.59%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36592" y="2660904"/>
            <a:ext cx="4005072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4736592" y="2660904"/>
            <a:ext cx="54864" cy="329184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26609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3D4F"/>
                </a:solidFill>
              </a:rPr>
              <a:t>ROC-AUC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266090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A817"/>
                </a:solidFill>
              </a:rPr>
              <a:t>0.8822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680960" y="266090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8A56"/>
                </a:solidFill>
              </a:rPr>
              <a:t>+0.67%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15200" y="7772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A9BAD"/>
                </a:solidFill>
              </a:rPr>
              <a:t>vs. baseline XGBoost →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0040" y="3246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CONFUSION MATRIX SUMMARY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35204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" y="3639312"/>
            <a:ext cx="1737360" cy="512064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" y="36484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56"/>
                </a:solidFill>
              </a:rPr>
              <a:t>~3,620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75488" y="3931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0E8"/>
                </a:solidFill>
              </a:rPr>
              <a:t>True Non-Fatal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331720" y="3639312"/>
            <a:ext cx="1737360" cy="512064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7" name="Text 55"/>
          <p:cNvSpPr/>
          <p:nvPr/>
        </p:nvSpPr>
        <p:spPr>
          <a:xfrm>
            <a:off x="2331720" y="36484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817"/>
                </a:solidFill>
              </a:rPr>
              <a:t>~420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331720" y="39319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0E8"/>
                </a:solidFill>
              </a:rPr>
              <a:t>False Fatal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75488" y="4224528"/>
            <a:ext cx="1737360" cy="512064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4233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</a:rPr>
              <a:t>~370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75488" y="4517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0E8"/>
                </a:solidFill>
              </a:rPr>
              <a:t>False Non-Fatal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331720" y="4224528"/>
            <a:ext cx="1737360" cy="512064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63" name="Text 61"/>
          <p:cNvSpPr/>
          <p:nvPr/>
        </p:nvSpPr>
        <p:spPr>
          <a:xfrm>
            <a:off x="2331720" y="4233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A56"/>
                </a:solidFill>
              </a:rPr>
              <a:t>~670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2331720" y="45171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6E0E8"/>
                </a:solidFill>
              </a:rPr>
              <a:t>True Fatal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663440" y="32461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BEST HYPERPARAMETERS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3520440"/>
            <a:ext cx="4160520" cy="13258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800600" y="3639312"/>
            <a:ext cx="1828800" cy="301752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68" name="Text 66"/>
          <p:cNvSpPr/>
          <p:nvPr/>
        </p:nvSpPr>
        <p:spPr>
          <a:xfrm>
            <a:off x="4800600" y="363931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B5C3"/>
                </a:solidFill>
              </a:rPr>
              <a:t>n_estimators: 300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00600" y="4005072"/>
            <a:ext cx="1828800" cy="301752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70" name="Text 68"/>
          <p:cNvSpPr/>
          <p:nvPr/>
        </p:nvSpPr>
        <p:spPr>
          <a:xfrm>
            <a:off x="4800600" y="40050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B5C3"/>
                </a:solidFill>
              </a:rPr>
              <a:t>max_depth: 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00600" y="4370832"/>
            <a:ext cx="1828800" cy="301752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72" name="Text 70"/>
          <p:cNvSpPr/>
          <p:nvPr/>
        </p:nvSpPr>
        <p:spPr>
          <a:xfrm>
            <a:off x="4800600" y="437083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B5C3"/>
                </a:solidFill>
              </a:rPr>
              <a:t>learning_rate: 0.1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766560" y="3639312"/>
            <a:ext cx="1828800" cy="301752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74" name="Text 72"/>
          <p:cNvSpPr/>
          <p:nvPr/>
        </p:nvSpPr>
        <p:spPr>
          <a:xfrm>
            <a:off x="6766560" y="363931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B5C3"/>
                </a:solidFill>
              </a:rPr>
              <a:t>subsample: 0.8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766560" y="4005072"/>
            <a:ext cx="1828800" cy="301752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76" name="Text 74"/>
          <p:cNvSpPr/>
          <p:nvPr/>
        </p:nvSpPr>
        <p:spPr>
          <a:xfrm>
            <a:off x="6766560" y="40050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B5C3"/>
                </a:solidFill>
              </a:rPr>
              <a:t>colsample_bytree: 0.8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Importance &amp; Model Interpretability (SHAP)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64008" cy="4485132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XGBOOST BUILT-IN FEATURE IMPORTANCE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519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0700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VIC_AGE_GROUP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1234440"/>
            <a:ext cx="2331720" cy="1828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4379976" y="120700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53935"/>
                </a:solidFill>
              </a:rPr>
              <a:t>0.182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PRECINCT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93392" y="1527048"/>
            <a:ext cx="2113922" cy="1828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162178" y="149961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53935"/>
                </a:solidFill>
              </a:rPr>
              <a:t>0.165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17922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HOUR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93392" y="1819656"/>
            <a:ext cx="1896124" cy="1828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3944380" y="179222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53935"/>
                </a:solidFill>
              </a:rPr>
              <a:t>0.148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0848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YEAR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93392" y="2112264"/>
            <a:ext cx="1434905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18" name="Text 16"/>
          <p:cNvSpPr/>
          <p:nvPr/>
        </p:nvSpPr>
        <p:spPr>
          <a:xfrm>
            <a:off x="3483161" y="208483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0.112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BORO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93392" y="2404872"/>
            <a:ext cx="1217107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1" name="Text 19"/>
          <p:cNvSpPr/>
          <p:nvPr/>
        </p:nvSpPr>
        <p:spPr>
          <a:xfrm>
            <a:off x="3265363" y="237744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0.095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26700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MONTH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93392" y="2697480"/>
            <a:ext cx="922439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4" name="Text 22"/>
          <p:cNvSpPr/>
          <p:nvPr/>
        </p:nvSpPr>
        <p:spPr>
          <a:xfrm>
            <a:off x="2970695" y="267004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0.072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29626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VIC_RACE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93392" y="2990088"/>
            <a:ext cx="743076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7" name="Text 25"/>
          <p:cNvSpPr/>
          <p:nvPr/>
        </p:nvSpPr>
        <p:spPr>
          <a:xfrm>
            <a:off x="2791332" y="296265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0.058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3255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PERP_AGE_GROUP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93392" y="3282696"/>
            <a:ext cx="627771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0" name="Text 28"/>
          <p:cNvSpPr/>
          <p:nvPr/>
        </p:nvSpPr>
        <p:spPr>
          <a:xfrm>
            <a:off x="2676027" y="3255264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0.049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35478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DAY_OF_WEEK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993392" y="3575304"/>
            <a:ext cx="486843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3" name="Text 31"/>
          <p:cNvSpPr/>
          <p:nvPr/>
        </p:nvSpPr>
        <p:spPr>
          <a:xfrm>
            <a:off x="2535099" y="3547872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0.038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" y="38404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IS_NIGHT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93392" y="3867912"/>
            <a:ext cx="384349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6" name="Text 34"/>
          <p:cNvSpPr/>
          <p:nvPr/>
        </p:nvSpPr>
        <p:spPr>
          <a:xfrm>
            <a:off x="2432605" y="3840480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0.030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" y="4133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VIC_SEX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993392" y="4160520"/>
            <a:ext cx="281856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9" name="Text 37"/>
          <p:cNvSpPr/>
          <p:nvPr/>
        </p:nvSpPr>
        <p:spPr>
          <a:xfrm>
            <a:off x="2330112" y="4133088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0.022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" y="44256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3D4F"/>
                </a:solidFill>
              </a:rPr>
              <a:t>PERP_SEX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93392" y="4453128"/>
            <a:ext cx="153740" cy="1828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42" name="Text 40"/>
          <p:cNvSpPr/>
          <p:nvPr/>
        </p:nvSpPr>
        <p:spPr>
          <a:xfrm>
            <a:off x="2201996" y="4425696"/>
            <a:ext cx="411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6FA8"/>
                </a:solidFill>
              </a:rPr>
              <a:t>0.012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7772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SHAP ANALYSIS KEY INSIGHTS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1051560"/>
            <a:ext cx="3977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56048" y="1143000"/>
            <a:ext cx="374904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4956048" y="1143000"/>
            <a:ext cx="45720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7" name="Text 45"/>
          <p:cNvSpPr/>
          <p:nvPr/>
        </p:nvSpPr>
        <p:spPr>
          <a:xfrm>
            <a:off x="5074920" y="11612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935"/>
                </a:solidFill>
              </a:rPr>
              <a:t>VIC_AGE_GROUP  ↑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74920" y="136245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3D4F"/>
                </a:solidFill>
              </a:rPr>
              <a:t>Older victim age groups (45–64, 65+) strongly push the model toward predicting a fatal outcome.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956048" y="1673352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956048" y="1673352"/>
            <a:ext cx="45720" cy="457200"/>
          </a:xfrm>
          <a:prstGeom prst="rect">
            <a:avLst/>
          </a:prstGeom>
          <a:solidFill>
            <a:srgbClr val="7B51A8"/>
          </a:solidFill>
          <a:ln/>
        </p:spPr>
      </p:sp>
      <p:sp>
        <p:nvSpPr>
          <p:cNvPr id="51" name="Text 49"/>
          <p:cNvSpPr/>
          <p:nvPr/>
        </p:nvSpPr>
        <p:spPr>
          <a:xfrm>
            <a:off x="5074920" y="16916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51A8"/>
                </a:solidFill>
              </a:rPr>
              <a:t>PRECINCT  ↑↓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74920" y="189280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3D4F"/>
                </a:solidFill>
              </a:rPr>
              <a:t>Certain high-risk precincts consistently elevate fatality probability across all incident types.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56048" y="2203704"/>
            <a:ext cx="374904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Shape 52"/>
          <p:cNvSpPr/>
          <p:nvPr/>
        </p:nvSpPr>
        <p:spPr>
          <a:xfrm>
            <a:off x="4956048" y="2203704"/>
            <a:ext cx="45720" cy="45720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5" name="Text 53"/>
          <p:cNvSpPr/>
          <p:nvPr/>
        </p:nvSpPr>
        <p:spPr>
          <a:xfrm>
            <a:off x="5074920" y="222199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A817"/>
                </a:solidFill>
              </a:rPr>
              <a:t>HOUR  ↑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74920" y="242316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3D4F"/>
                </a:solidFill>
              </a:rPr>
              <a:t>Night hours (10 PM–5 AM) significantly increase predicted fatality risk vs. daytime incidents.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956048" y="2734056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4956048" y="2734056"/>
            <a:ext cx="45720" cy="45720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59" name="Text 57"/>
          <p:cNvSpPr/>
          <p:nvPr/>
        </p:nvSpPr>
        <p:spPr>
          <a:xfrm>
            <a:off x="5074920" y="27523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FA8"/>
                </a:solidFill>
              </a:rPr>
              <a:t>YEAR  ↑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74920" y="29535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3D4F"/>
                </a:solidFill>
              </a:rPr>
              <a:t>Recent years (2020–2022) show higher fatality probability — COVID-era pattern shift.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846320" y="3456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MODEL INTERPRETABILITY SUMMARY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46320" y="3730752"/>
            <a:ext cx="3977640" cy="106984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983480" y="3822192"/>
            <a:ext cx="118872" cy="1188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64" name="Text 62"/>
          <p:cNvSpPr/>
          <p:nvPr/>
        </p:nvSpPr>
        <p:spPr>
          <a:xfrm>
            <a:off x="5166360" y="37947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0E8"/>
                </a:solidFill>
              </a:rPr>
              <a:t>Top 3 features explain ~50% of model variance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983480" y="4050792"/>
            <a:ext cx="118872" cy="1188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66" name="Text 64"/>
          <p:cNvSpPr/>
          <p:nvPr/>
        </p:nvSpPr>
        <p:spPr>
          <a:xfrm>
            <a:off x="5166360" y="40233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0E8"/>
                </a:solidFill>
              </a:rPr>
              <a:t>SHAP confirms feature importance rankings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83480" y="4279392"/>
            <a:ext cx="118872" cy="1188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68" name="Text 66"/>
          <p:cNvSpPr/>
          <p:nvPr/>
        </p:nvSpPr>
        <p:spPr>
          <a:xfrm>
            <a:off x="5166360" y="42519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0E8"/>
                </a:solidFill>
              </a:rPr>
              <a:t>No unexpected spurious correlations detected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83480" y="4507992"/>
            <a:ext cx="118872" cy="118872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70" name="Text 68"/>
          <p:cNvSpPr/>
          <p:nvPr/>
        </p:nvSpPr>
        <p:spPr>
          <a:xfrm>
            <a:off x="5166360" y="44805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0E8"/>
                </a:solidFill>
              </a:rPr>
              <a:t>Demographic features show smaller SHAP impact vs. situational features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03504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Conclusions &amp; Actionable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59436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170432"/>
            <a:ext cx="292608" cy="292608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170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14300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0E8"/>
                </a:solidFill>
              </a:rPr>
              <a:t>Class imbalance (19% fatal) was critical — SMOTE prevented biased training and improved minority class recall by ~12pp.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4023360" cy="59436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" y="1828800"/>
            <a:ext cx="292608" cy="292608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0136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0E8"/>
                </a:solidFill>
              </a:rPr>
              <a:t>XGBoost (tuned) achieved ROC-AUC of 0.83, outperforming all baselines across all evaluation metrics.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14016"/>
            <a:ext cx="4023360" cy="59436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" y="2487168"/>
            <a:ext cx="292608" cy="292608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45973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0E8"/>
                </a:solidFill>
              </a:rPr>
              <a:t>Victim age, precinct, and hour of day are the top predictors of shooting fatality — exceeding demographic features.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4023360" cy="59436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3145536"/>
            <a:ext cx="292608" cy="292608"/>
          </a:xfrm>
          <a:prstGeom prst="ellipse">
            <a:avLst/>
          </a:prstGeom>
          <a:solidFill>
            <a:srgbClr val="1B8B96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1181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0E8"/>
                </a:solidFill>
              </a:rPr>
              <a:t>Staten Island has highest fatality rate (21.5%); late-night incidents are 30–40% more likely to be fatal.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80467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8B96"/>
                </a:solidFill>
              </a:rPr>
              <a:t>ACTIONABLE RECOMMENDATIONS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160520" cy="4572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97280"/>
            <a:ext cx="45720" cy="4572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15568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Night-Shift Resource Augmentation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31673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Higher fatality rates 10PM–5AM justify enhanced medical &amp; patrol coverage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1627632"/>
            <a:ext cx="4160520" cy="4572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627632"/>
            <a:ext cx="45720" cy="4572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64592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Precinct-Level Risk Deployment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184708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Pre-position emergency responders based on predicted fatality risk scores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157984"/>
            <a:ext cx="4160520" cy="4572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157984"/>
            <a:ext cx="45720" cy="4572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17627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Elderly Victim Fast-Track Protocol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377440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Rapid-response procedures specific to incidents involving victims 45+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688336"/>
            <a:ext cx="4160520" cy="4572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688336"/>
            <a:ext cx="45720" cy="4572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706624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Seasonal Preparedness Scale-Up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290779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Scale emergency resources during summer months (Jul–Aug peak)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218688"/>
            <a:ext cx="4160520" cy="4572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218688"/>
            <a:ext cx="45720" cy="45720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236976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Borough-Specific Strategies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43814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AD"/>
                </a:solidFill>
              </a:rPr>
              <a:t>Tailor prevention programs to each borough's distinct risk profile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" y="37947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A817"/>
                </a:solidFill>
              </a:rPr>
              <a:t>MODEL LIMITATIONS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069080"/>
            <a:ext cx="8503920" cy="80467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5" name="Shape 43"/>
          <p:cNvSpPr/>
          <p:nvPr/>
        </p:nvSpPr>
        <p:spPr>
          <a:xfrm>
            <a:off x="438912" y="4160520"/>
            <a:ext cx="1536192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46" name="Shape 44"/>
          <p:cNvSpPr/>
          <p:nvPr/>
        </p:nvSpPr>
        <p:spPr>
          <a:xfrm>
            <a:off x="438912" y="4160520"/>
            <a:ext cx="153619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4224528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0E8"/>
                </a:solidFill>
              </a:rPr>
              <a:t>Missing perp data (~37%)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112264" y="4160520"/>
            <a:ext cx="1536192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49" name="Shape 47"/>
          <p:cNvSpPr/>
          <p:nvPr/>
        </p:nvSpPr>
        <p:spPr>
          <a:xfrm>
            <a:off x="2112264" y="4160520"/>
            <a:ext cx="153619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0" name="Text 48"/>
          <p:cNvSpPr/>
          <p:nvPr/>
        </p:nvSpPr>
        <p:spPr>
          <a:xfrm>
            <a:off x="2112264" y="4224528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0E8"/>
                </a:solidFill>
              </a:rPr>
              <a:t>Correlational — not causal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85616" y="4160520"/>
            <a:ext cx="1536192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2" name="Shape 50"/>
          <p:cNvSpPr/>
          <p:nvPr/>
        </p:nvSpPr>
        <p:spPr>
          <a:xfrm>
            <a:off x="3785616" y="4160520"/>
            <a:ext cx="153619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3" name="Text 51"/>
          <p:cNvSpPr/>
          <p:nvPr/>
        </p:nvSpPr>
        <p:spPr>
          <a:xfrm>
            <a:off x="3785616" y="4224528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0E8"/>
                </a:solidFill>
              </a:rPr>
              <a:t>Requires periodic retraining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58968" y="4160520"/>
            <a:ext cx="1536192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5" name="Shape 53"/>
          <p:cNvSpPr/>
          <p:nvPr/>
        </p:nvSpPr>
        <p:spPr>
          <a:xfrm>
            <a:off x="5458968" y="4160520"/>
            <a:ext cx="153619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6" name="Text 54"/>
          <p:cNvSpPr/>
          <p:nvPr/>
        </p:nvSpPr>
        <p:spPr>
          <a:xfrm>
            <a:off x="5458968" y="4224528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0E8"/>
                </a:solidFill>
              </a:rPr>
              <a:t>No profiling use cases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32320" y="4160520"/>
            <a:ext cx="1536192" cy="566928"/>
          </a:xfrm>
          <a:prstGeom prst="rect">
            <a:avLst/>
          </a:prstGeom>
          <a:solidFill>
            <a:srgbClr val="2E3D4F"/>
          </a:solidFill>
          <a:ln/>
        </p:spPr>
      </p:sp>
      <p:sp>
        <p:nvSpPr>
          <p:cNvPr id="58" name="Shape 56"/>
          <p:cNvSpPr/>
          <p:nvPr/>
        </p:nvSpPr>
        <p:spPr>
          <a:xfrm>
            <a:off x="7132320" y="4160520"/>
            <a:ext cx="153619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0" y="4224528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0E8"/>
                </a:solidFill>
              </a:rPr>
              <a:t>Midblock GPS precision only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NYPD Shooting Fatality Classification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8B96"/>
                </a:solidFill>
              </a:rPr>
              <a:t>NYPD Shooting Incident Fatality Classification  |  Urban Insights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920240" cy="123444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1920240" cy="4572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8B96"/>
                </a:solidFill>
              </a:rPr>
              <a:t>27,312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Historical Incidents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Analyzed (2006–2022)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691640"/>
            <a:ext cx="1920240" cy="123444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691640"/>
            <a:ext cx="1920240" cy="45720"/>
          </a:xfrm>
          <a:prstGeom prst="rect">
            <a:avLst/>
          </a:prstGeom>
          <a:solidFill>
            <a:srgbClr val="1E8A56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A56"/>
                </a:solidFill>
              </a:rPr>
              <a:t>0.831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87752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Final ROC-AUC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Tuned XGBoost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691640"/>
            <a:ext cx="1920240" cy="123444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691640"/>
            <a:ext cx="1920240" cy="45720"/>
          </a:xfrm>
          <a:prstGeom prst="rect">
            <a:avLst/>
          </a:prstGeom>
          <a:solidFill>
            <a:srgbClr val="7B51A8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51A8"/>
                </a:solidFill>
              </a:rPr>
              <a:t>16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72584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Features Used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(8 engineered)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1691640"/>
            <a:ext cx="1920240" cy="123444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1691640"/>
            <a:ext cx="1920240" cy="4572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9" name="Text 17"/>
          <p:cNvSpPr/>
          <p:nvPr/>
        </p:nvSpPr>
        <p:spPr>
          <a:xfrm>
            <a:off x="6757416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A817"/>
                </a:solidFill>
              </a:rPr>
              <a:t>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57416" y="2395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0E8"/>
                </a:solidFill>
              </a:rPr>
              <a:t>Compared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154680"/>
            <a:ext cx="7315200" cy="132588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154680"/>
            <a:ext cx="64008" cy="1325880"/>
          </a:xfrm>
          <a:prstGeom prst="rect">
            <a:avLst/>
          </a:prstGeom>
          <a:solidFill>
            <a:srgbClr val="1B8B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18688"/>
            <a:ext cx="69951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6E0E8"/>
                </a:solidFill>
              </a:rPr>
              <a:t>This project demonstrates that machine learning can reliably identify high-risk shooting incidents before outcome is known, enabling proactive allocation of NYPD and emergency medical resources. The XGBoost model — with an AUC of 0.831 — is production-ready and can be integrated into real-time dispatch systems with periodic retraining to adapt to evolving crime patterns.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0C1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BAD"/>
                </a:solidFill>
              </a:rPr>
              <a:t>Urban Insights Analytics  |  Confidential  | 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1410</Words>
  <Application>Microsoft Office PowerPoint</Application>
  <PresentationFormat>On-screen Show (16:9)</PresentationFormat>
  <Paragraphs>355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NYPD Shooting Fatality Classification</dc:title>
  <dc:subject>PptxGenJS Presentation</dc:subject>
  <dc:creator>Urban Insights Analytics</dc:creator>
  <cp:lastModifiedBy>Dell</cp:lastModifiedBy>
  <cp:revision>6</cp:revision>
  <dcterms:created xsi:type="dcterms:W3CDTF">2026-04-09T15:04:15Z</dcterms:created>
  <dcterms:modified xsi:type="dcterms:W3CDTF">2026-04-11T06:29:55Z</dcterms:modified>
</cp:coreProperties>
</file>